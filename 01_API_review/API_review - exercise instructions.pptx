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60" r:id="rId2"/>
    <p:sldId id="1023" r:id="rId3"/>
    <p:sldId id="1024" r:id="rId4"/>
    <p:sldId id="1025" r:id="rId5"/>
    <p:sldId id="1027" r:id="rId6"/>
    <p:sldId id="1026" r:id="rId7"/>
    <p:sldId id="1028" r:id="rId8"/>
    <p:sldId id="1029" r:id="rId9"/>
    <p:sldId id="1030" r:id="rId10"/>
    <p:sldId id="280" r:id="rId11"/>
  </p:sldIdLst>
  <p:sldSz cx="9144000" cy="6858000" type="screen4x3"/>
  <p:notesSz cx="6858000" cy="9144000"/>
  <p:embeddedFontLst>
    <p:embeddedFont>
      <p:font typeface="Dosis Light" pitchFamily="2" charset="0"/>
      <p:regular r:id="rId13"/>
      <p:bold r:id="rId14"/>
    </p:embeddedFont>
    <p:embeddedFont>
      <p:font typeface="Titillium Web ExtraLight" panose="00000300000000000000" pitchFamily="2" charset="0"/>
      <p:regular r:id="rId15"/>
      <p:italic r:id="rId16"/>
    </p:embeddedFont>
    <p:embeddedFont>
      <p:font typeface="Titillium Web Light" panose="000004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BCF636-695B-411A-8A3E-0DDEA877B762}" v="1" dt="2026-09-06T14:04:17.799"/>
  </p1510:revLst>
</p1510:revInfo>
</file>

<file path=ppt/tableStyles.xml><?xml version="1.0" encoding="utf-8"?>
<a:tblStyleLst xmlns:a="http://schemas.openxmlformats.org/drawingml/2006/main" def="{6B65C018-401D-4E79-BA3F-DD4AE9F38AE6}">
  <a:tblStyle styleId="{6B65C018-401D-4E79-BA3F-DD4AE9F38A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9" autoAdjust="0"/>
    <p:restoredTop sz="92955" autoAdjust="0"/>
  </p:normalViewPr>
  <p:slideViewPr>
    <p:cSldViewPr snapToGrid="0">
      <p:cViewPr varScale="1">
        <p:scale>
          <a:sx n="83" d="100"/>
          <a:sy n="83" d="100"/>
        </p:scale>
        <p:origin x="1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tahl" userId="1bd406a94c0b4a41" providerId="LiveId" clId="{06F263C8-35B2-477E-9931-FD30AF4771AB}"/>
    <pc:docChg chg="custSel delSld modSld delSection modSection">
      <pc:chgData name="Michael Stahl" userId="1bd406a94c0b4a41" providerId="LiveId" clId="{06F263C8-35B2-477E-9931-FD30AF4771AB}" dt="2026-09-06T14:04:22.463" v="37" actId="478"/>
      <pc:docMkLst>
        <pc:docMk/>
      </pc:docMkLst>
      <pc:sldChg chg="addSp delSp modSp mod">
        <pc:chgData name="Michael Stahl" userId="1bd406a94c0b4a41" providerId="LiveId" clId="{06F263C8-35B2-477E-9931-FD30AF4771AB}" dt="2026-09-06T14:04:22.463" v="37" actId="478"/>
        <pc:sldMkLst>
          <pc:docMk/>
          <pc:sldMk cId="0" sldId="260"/>
        </pc:sldMkLst>
        <pc:spChg chg="add del mod">
          <ac:chgData name="Michael Stahl" userId="1bd406a94c0b4a41" providerId="LiveId" clId="{06F263C8-35B2-477E-9931-FD30AF4771AB}" dt="2026-09-06T14:04:22.463" v="37" actId="478"/>
          <ac:spMkLst>
            <pc:docMk/>
            <pc:sldMk cId="0" sldId="260"/>
            <ac:spMk id="3" creationId="{A09A1FCB-85A6-8C5D-D894-6D82FCF8E206}"/>
          </ac:spMkLst>
        </pc:spChg>
        <pc:spChg chg="add mod">
          <ac:chgData name="Michael Stahl" userId="1bd406a94c0b4a41" providerId="LiveId" clId="{06F263C8-35B2-477E-9931-FD30AF4771AB}" dt="2026-09-06T14:04:17.799" v="36"/>
          <ac:spMkLst>
            <pc:docMk/>
            <pc:sldMk cId="0" sldId="260"/>
            <ac:spMk id="4" creationId="{1D5FD5E0-6205-0FB3-6BD5-83E053741786}"/>
          </ac:spMkLst>
        </pc:spChg>
        <pc:spChg chg="del mod">
          <ac:chgData name="Michael Stahl" userId="1bd406a94c0b4a41" providerId="LiveId" clId="{06F263C8-35B2-477E-9931-FD30AF4771AB}" dt="2026-09-06T14:04:16.799" v="35" actId="478"/>
          <ac:spMkLst>
            <pc:docMk/>
            <pc:sldMk cId="0" sldId="260"/>
            <ac:spMk id="3864" creationId="{00000000-0000-0000-0000-000000000000}"/>
          </ac:spMkLst>
        </pc:spChg>
      </pc:sldChg>
      <pc:sldChg chg="del">
        <pc:chgData name="Michael Stahl" userId="1bd406a94c0b4a41" providerId="LiveId" clId="{06F263C8-35B2-477E-9931-FD30AF4771AB}" dt="2026-09-06T13:56:54.133" v="0" actId="47"/>
        <pc:sldMkLst>
          <pc:docMk/>
          <pc:sldMk cId="0" sldId="319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508"/>
        </pc:sldMkLst>
      </pc:sldChg>
      <pc:sldChg chg="del">
        <pc:chgData name="Michael Stahl" userId="1bd406a94c0b4a41" providerId="LiveId" clId="{06F263C8-35B2-477E-9931-FD30AF4771AB}" dt="2026-09-06T13:56:54.133" v="0" actId="47"/>
        <pc:sldMkLst>
          <pc:docMk/>
          <pc:sldMk cId="0" sldId="518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578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617"/>
        </pc:sldMkLst>
      </pc:sldChg>
      <pc:sldChg chg="del">
        <pc:chgData name="Michael Stahl" userId="1bd406a94c0b4a41" providerId="LiveId" clId="{06F263C8-35B2-477E-9931-FD30AF4771AB}" dt="2026-09-06T13:56:54.133" v="0" actId="47"/>
        <pc:sldMkLst>
          <pc:docMk/>
          <pc:sldMk cId="1660106428" sldId="626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990442760" sldId="627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721551737" sldId="651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912684877" sldId="652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1907864026" sldId="668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752159020" sldId="671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134511209" sldId="672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346786642" sldId="673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482546710" sldId="674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1465442752" sldId="675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1693173476" sldId="676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380212379" sldId="677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680504276" sldId="678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776644516" sldId="685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711551525" sldId="688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689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696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700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709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694948627" sldId="710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714"/>
        </pc:sldMkLst>
      </pc:sldChg>
      <pc:sldChg chg="del">
        <pc:chgData name="Michael Stahl" userId="1bd406a94c0b4a41" providerId="LiveId" clId="{06F263C8-35B2-477E-9931-FD30AF4771AB}" dt="2026-09-06T13:56:54.133" v="0" actId="47"/>
        <pc:sldMkLst>
          <pc:docMk/>
          <pc:sldMk cId="0" sldId="716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718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520500930" sldId="720"/>
        </pc:sldMkLst>
      </pc:sldChg>
      <pc:sldChg chg="del">
        <pc:chgData name="Michael Stahl" userId="1bd406a94c0b4a41" providerId="LiveId" clId="{06F263C8-35B2-477E-9931-FD30AF4771AB}" dt="2026-09-06T13:56:54.133" v="0" actId="47"/>
        <pc:sldMkLst>
          <pc:docMk/>
          <pc:sldMk cId="0" sldId="725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961498896" sldId="732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394724117" sldId="735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736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092150909" sldId="739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988677753" sldId="740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948052063" sldId="741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742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743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197465072" sldId="745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750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751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707598250" sldId="753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057788968" sldId="754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986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239079323" sldId="999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810989534" sldId="1000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514275975" sldId="1001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782120851" sldId="1002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0" sldId="1003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1887089056" sldId="1005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682148569" sldId="1006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455088985" sldId="1012"/>
        </pc:sldMkLst>
      </pc:sldChg>
      <pc:sldChg chg="del">
        <pc:chgData name="Michael Stahl" userId="1bd406a94c0b4a41" providerId="LiveId" clId="{06F263C8-35B2-477E-9931-FD30AF4771AB}" dt="2026-09-06T13:56:54.133" v="0" actId="47"/>
        <pc:sldMkLst>
          <pc:docMk/>
          <pc:sldMk cId="3161281468" sldId="1021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2571405243" sldId="1031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1397791541" sldId="1032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3756952531" sldId="1033"/>
        </pc:sldMkLst>
      </pc:sldChg>
      <pc:sldChg chg="del">
        <pc:chgData name="Michael Stahl" userId="1bd406a94c0b4a41" providerId="LiveId" clId="{06F263C8-35B2-477E-9931-FD30AF4771AB}" dt="2026-09-06T13:57:02.537" v="1" actId="47"/>
        <pc:sldMkLst>
          <pc:docMk/>
          <pc:sldMk cId="1831642493" sldId="1034"/>
        </pc:sldMkLst>
      </pc:sldChg>
      <pc:sldMasterChg chg="delSldLayout">
        <pc:chgData name="Michael Stahl" userId="1bd406a94c0b4a41" providerId="LiveId" clId="{06F263C8-35B2-477E-9931-FD30AF4771AB}" dt="2026-09-06T13:57:02.537" v="1" actId="47"/>
        <pc:sldMasterMkLst>
          <pc:docMk/>
          <pc:sldMasterMk cId="0" sldId="2147483659"/>
        </pc:sldMasterMkLst>
        <pc:sldLayoutChg chg="del">
          <pc:chgData name="Michael Stahl" userId="1bd406a94c0b4a41" providerId="LiveId" clId="{06F263C8-35B2-477E-9931-FD30AF4771AB}" dt="2026-09-06T13:57:02.537" v="1" actId="47"/>
          <pc:sldLayoutMkLst>
            <pc:docMk/>
            <pc:sldMasterMk cId="0" sldId="2147483659"/>
            <pc:sldLayoutMk cId="0" sldId="2147483649"/>
          </pc:sldLayoutMkLst>
        </pc:sldLayoutChg>
        <pc:sldLayoutChg chg="del">
          <pc:chgData name="Michael Stahl" userId="1bd406a94c0b4a41" providerId="LiveId" clId="{06F263C8-35B2-477E-9931-FD30AF4771AB}" dt="2026-09-06T13:57:02.537" v="1" actId="47"/>
          <pc:sldLayoutMkLst>
            <pc:docMk/>
            <pc:sldMasterMk cId="0" sldId="2147483659"/>
            <pc:sldLayoutMk cId="3384795664" sldId="2147483660"/>
          </pc:sldLayoutMkLst>
        </pc:sldLayoutChg>
        <pc:sldLayoutChg chg="del">
          <pc:chgData name="Michael Stahl" userId="1bd406a94c0b4a41" providerId="LiveId" clId="{06F263C8-35B2-477E-9931-FD30AF4771AB}" dt="2026-09-06T13:57:02.537" v="1" actId="47"/>
          <pc:sldLayoutMkLst>
            <pc:docMk/>
            <pc:sldMasterMk cId="0" sldId="2147483659"/>
            <pc:sldLayoutMk cId="1965150010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" name="Google Shape;3861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3862" name="Google Shape;3862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To monitor progress, run  </a:t>
            </a:r>
            <a:r>
              <a:rPr lang="en-US" b="1" dirty="0"/>
              <a:t>02-01-040_API comments monitor.bat</a:t>
            </a:r>
          </a:p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r>
              <a:rPr lang="en-US" b="1" dirty="0"/>
              <a:t>Full path: </a:t>
            </a:r>
          </a:p>
          <a:p>
            <a:pPr marL="139700" indent="0">
              <a:buNone/>
            </a:pPr>
            <a:r>
              <a:rPr lang="en-US" dirty="0"/>
              <a:t>"D:\OneDrive - ITCB\Documents\Training\SW Testing\Azrieli\2027\Lesson 02 - Reviews, Static testing and Static analysis\01 Class activity\02-01 API review\02-01-040_API comments monitor.bat"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18104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a student in a software testing course. I am tasked with performing review of requirements for APIs. The definitions are based on the OpenAI standard and displayed via the Swagger UI. </a:t>
            </a:r>
          </a:p>
          <a:p>
            <a:r>
              <a:rPr lang="en-US" dirty="0"/>
              <a:t>a.     What to look for when doing a review?</a:t>
            </a:r>
          </a:p>
          <a:p>
            <a:r>
              <a:rPr lang="en-US" dirty="0"/>
              <a:t>b.    What categories of mistakes can reviews find? </a:t>
            </a:r>
          </a:p>
          <a:p>
            <a:endParaRPr lang="en-US" dirty="0"/>
          </a:p>
          <a:p>
            <a:r>
              <a:rPr lang="en-US" dirty="0"/>
              <a:t>I have 10 minutes to learn this, so keep your answer to (a) concise and for (b) give me a list of categories (one word category), with a short (1-2 sentences) explanation of the category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9981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52899-F858-0BE0-6C5F-0956F0A0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ACADD-157B-AC6F-FC9D-BED7B95EE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5B1BF-FB68-D7EE-5EF0-2D438403B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a student in a software testing course. I am tasked with performing review of requirements for APIs. The definitions are based on the OpenAI standard and displayed via the Swagger UI. </a:t>
            </a:r>
          </a:p>
          <a:p>
            <a:r>
              <a:rPr lang="en-US" dirty="0"/>
              <a:t>a.     What to look for when doing a review?</a:t>
            </a:r>
          </a:p>
          <a:p>
            <a:r>
              <a:rPr lang="en-US" dirty="0"/>
              <a:t>b.    What categories of mistakes can reviews find? </a:t>
            </a:r>
          </a:p>
          <a:p>
            <a:endParaRPr lang="en-US" dirty="0"/>
          </a:p>
          <a:p>
            <a:r>
              <a:rPr lang="en-US" dirty="0"/>
              <a:t>I have 10 minutes to learn this, so keep your answer to (a) concise and for (b) give me a list of categories (one word category), with a short (1-2 sentences) explanation of the category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65330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2DB1-18C8-15DF-BFBB-309F1AA58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38E92-C4D2-F098-E8A9-984503A2F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AE839-1222-2F8F-8058-BE19E10C9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a student in a software testing course. I am tasked with performing review of requirements for APIs. The definitions are based on the OpenAI standard and displayed via the Swagger UI. </a:t>
            </a:r>
          </a:p>
          <a:p>
            <a:r>
              <a:rPr lang="en-US" dirty="0"/>
              <a:t>a.     What to look for when doing a review?</a:t>
            </a:r>
          </a:p>
          <a:p>
            <a:r>
              <a:rPr lang="en-US" dirty="0"/>
              <a:t>b.    What categories of mistakes can reviews find? </a:t>
            </a:r>
          </a:p>
          <a:p>
            <a:endParaRPr lang="en-US" dirty="0"/>
          </a:p>
          <a:p>
            <a:r>
              <a:rPr lang="en-US" dirty="0"/>
              <a:t>I have 10 minutes to learn this, so keep your answer to (a) concise and for (b) give me a list of categories (one word category), with a short (1-2 sentences) explanation of the category</a:t>
            </a:r>
          </a:p>
          <a:p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58916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6CD6C-E7AA-3F14-BED9-72E6FF8CA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72CCC-60B2-FFFE-F086-3DDB4E9DF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C8C14-BBE5-20BC-7997-CC95B60EB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28328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E2D32-A160-C27D-0595-287BCDBF0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FB425-C2E3-A177-FE31-0DE956C1C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4D762-2420-5EBD-7174-C2CB7B87B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a student in a software testing course. I am tasked with performing review of requirements for APIs. The definitions are based on the OpenAI standard and displayed via the Swagger UI. </a:t>
            </a:r>
          </a:p>
          <a:p>
            <a:r>
              <a:rPr lang="en-US" dirty="0"/>
              <a:t>a.     What to look for when doing a review?</a:t>
            </a:r>
          </a:p>
          <a:p>
            <a:r>
              <a:rPr lang="en-US" dirty="0"/>
              <a:t>b.    What categories of mistakes can reviews find? </a:t>
            </a:r>
          </a:p>
          <a:p>
            <a:endParaRPr lang="en-US" dirty="0"/>
          </a:p>
          <a:p>
            <a:r>
              <a:rPr lang="en-US" dirty="0"/>
              <a:t>I have 10 minutes to learn this, so keep your answer to (a) concise and for (b) give me a list of categories (one word category), with a short (1-2 sentences) explanation of the category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01404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4A8E8-7520-FE13-E008-679B18A0D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12027-FB65-56E4-041B-11E8339FF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530A4-F616-B584-0547-9EB2365C3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a student in a software testing course. I am tasked with performing review of requirements for APIs. The definitions are based on the OpenAI standard and displayed via the Swagger UI. </a:t>
            </a:r>
          </a:p>
          <a:p>
            <a:r>
              <a:rPr lang="en-US" dirty="0"/>
              <a:t>a.     What to look for when doing a review?</a:t>
            </a:r>
          </a:p>
          <a:p>
            <a:r>
              <a:rPr lang="en-US" dirty="0"/>
              <a:t>b.    What categories of mistakes can reviews find? </a:t>
            </a:r>
          </a:p>
          <a:p>
            <a:endParaRPr lang="en-US" dirty="0"/>
          </a:p>
          <a:p>
            <a:r>
              <a:rPr lang="en-US" dirty="0"/>
              <a:t>I have 10 minutes to learn this, so keep your answer to (a) concise and for (b) give me a list of categories (one word category), with a short (1-2 sentences) explanation of the category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10904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  <p:sp>
        <p:nvSpPr>
          <p:cNvPr id="4044" name="Google Shape;4044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>
            <a:spLocks noGrp="1"/>
          </p:cNvSpPr>
          <p:nvPr>
            <p:ph type="ctrTitle"/>
          </p:nvPr>
        </p:nvSpPr>
        <p:spPr>
          <a:xfrm>
            <a:off x="743758" y="683009"/>
            <a:ext cx="52689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8" name="Google Shape;528;p3"/>
          <p:cNvSpPr txBox="1">
            <a:spLocks noGrp="1"/>
          </p:cNvSpPr>
          <p:nvPr>
            <p:ph type="subTitle" idx="1"/>
          </p:nvPr>
        </p:nvSpPr>
        <p:spPr>
          <a:xfrm>
            <a:off x="743758" y="2155416"/>
            <a:ext cx="52689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2400"/>
              <a:buNone/>
              <a:defRPr sz="1800">
                <a:solidFill>
                  <a:schemeClr val="accent1">
                    <a:lumMod val="75000"/>
                  </a:schemeClr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57187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640231" y="206661"/>
            <a:ext cx="8236800" cy="889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641034" y="1255690"/>
            <a:ext cx="7569248" cy="502971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379413" lvl="0" indent="-379413">
              <a:spcBef>
                <a:spcPts val="300"/>
              </a:spcBef>
              <a:spcAft>
                <a:spcPts val="300"/>
              </a:spcAft>
              <a:buClr>
                <a:schemeClr val="accent1">
                  <a:lumMod val="50000"/>
                </a:schemeClr>
              </a:buClr>
              <a:buSzPts val="2400"/>
              <a:buFont typeface="Wingdings" panose="05000000000000000000" pitchFamily="2" charset="2"/>
              <a:buChar char="§"/>
              <a:defRPr/>
            </a:lvl1pPr>
            <a:lvl2pPr marL="914309" lvl="1" indent="-380962">
              <a:spcBef>
                <a:spcPts val="0"/>
              </a:spcBef>
              <a:spcAft>
                <a:spcPts val="400"/>
              </a:spcAft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2000"/>
            </a:lvl2pPr>
            <a:lvl3pPr marL="1371464" lvl="2" indent="-380962">
              <a:spcBef>
                <a:spcPts val="0"/>
              </a:spcBef>
              <a:spcAft>
                <a:spcPts val="400"/>
              </a:spcAft>
              <a:buClr>
                <a:schemeClr val="accent1">
                  <a:lumMod val="60000"/>
                  <a:lumOff val="40000"/>
                </a:schemeClr>
              </a:buClr>
              <a:buSzPts val="2400"/>
              <a:buChar char="▫"/>
              <a:defRPr sz="1800"/>
            </a:lvl3pPr>
            <a:lvl4pPr marL="1828618" lvl="3" indent="-380962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40000"/>
                  <a:lumOff val="60000"/>
                </a:schemeClr>
              </a:buClr>
              <a:buSzPts val="2400"/>
              <a:buChar char="▫"/>
              <a:defRPr sz="1600"/>
            </a:lvl4pPr>
            <a:lvl5pPr marL="2285774" lvl="4" indent="-380962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20000"/>
                  <a:lumOff val="80000"/>
                </a:schemeClr>
              </a:buClr>
              <a:buSzPts val="2400"/>
              <a:buChar char="▫"/>
              <a:defRPr sz="1400"/>
            </a:lvl5pPr>
            <a:lvl6pPr marL="2742926" lvl="5" indent="-380962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080" lvl="6" indent="-380962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235" lvl="7" indent="-380962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389" lvl="8" indent="-380962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38276"/>
            <a:ext cx="264012" cy="6781736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9" y="38276"/>
            <a:ext cx="1140783" cy="6781736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9" y="38276"/>
            <a:ext cx="994639" cy="6586909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9" y="38276"/>
            <a:ext cx="1140783" cy="6781736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201738"/>
            <a:ext cx="4041775" cy="4840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201738"/>
            <a:ext cx="4043362" cy="4840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745034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anchor="b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8048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6650" y="4478338"/>
            <a:ext cx="6280150" cy="457200"/>
          </a:xfrm>
        </p:spPr>
        <p:txBody>
          <a:bodyPr wrap="none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2565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rgbClr val="0B87A1"/>
        </a:solid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"/>
          <p:cNvSpPr txBox="1">
            <a:spLocks noGrp="1"/>
          </p:cNvSpPr>
          <p:nvPr>
            <p:ph type="body" idx="1"/>
          </p:nvPr>
        </p:nvSpPr>
        <p:spPr>
          <a:xfrm>
            <a:off x="1534885" y="986067"/>
            <a:ext cx="4024689" cy="492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55" lvl="0" indent="-41906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1pPr>
            <a:lvl2pPr marL="914309" lvl="1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2pPr>
            <a:lvl3pPr marL="1371464" lvl="2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3pPr>
            <a:lvl4pPr marL="1828618" lvl="3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4pPr>
            <a:lvl5pPr marL="2285774" lvl="4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5pPr>
            <a:lvl6pPr marL="2742926" lvl="5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6pPr>
            <a:lvl7pPr marL="3200080" lvl="6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  <a:defRPr sz="3000" i="1">
                <a:solidFill>
                  <a:srgbClr val="FFFFFF"/>
                </a:solidFill>
              </a:defRPr>
            </a:lvl7pPr>
            <a:lvl8pPr marL="3657235" lvl="7" indent="-41906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○"/>
              <a:defRPr sz="3000" i="1">
                <a:solidFill>
                  <a:srgbClr val="FFFFFF"/>
                </a:solidFill>
              </a:defRPr>
            </a:lvl8pPr>
            <a:lvl9pPr marL="4114389" lvl="8" indent="-41906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■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047" name="Google Shape;1047;p4"/>
          <p:cNvGrpSpPr/>
          <p:nvPr/>
        </p:nvGrpSpPr>
        <p:grpSpPr>
          <a:xfrm rot="10800000">
            <a:off x="8705367" y="38264"/>
            <a:ext cx="410132" cy="6781736"/>
            <a:chOff x="836200" y="238125"/>
            <a:chExt cx="422425" cy="5238750"/>
          </a:xfrm>
        </p:grpSpPr>
        <p:sp>
          <p:nvSpPr>
            <p:cNvPr id="1048" name="Google Shape;1048;p4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9" name="Google Shape;1049;p4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0" name="Google Shape;1050;p4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2" name="Google Shape;1052;p4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3" name="Google Shape;1053;p4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4" name="Google Shape;1054;p4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5" name="Google Shape;1055;p4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6" name="Google Shape;1056;p4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7" name="Google Shape;1057;p4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8" name="Google Shape;1058;p4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9" name="Google Shape;1059;p4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1" name="Google Shape;1061;p4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2" name="Google Shape;1062;p4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3" name="Google Shape;1063;p4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4" name="Google Shape;1064;p4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5" name="Google Shape;1065;p4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6" name="Google Shape;1066;p4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7" name="Google Shape;1067;p4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8" name="Google Shape;1068;p4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9" name="Google Shape;1069;p4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0" name="Google Shape;1070;p4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1" name="Google Shape;1071;p4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2" name="Google Shape;1072;p4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3" name="Google Shape;1073;p4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128" name="Google Shape;1128;p4"/>
          <p:cNvGrpSpPr/>
          <p:nvPr/>
        </p:nvGrpSpPr>
        <p:grpSpPr>
          <a:xfrm rot="10800000">
            <a:off x="6659535" y="38264"/>
            <a:ext cx="2309844" cy="6781736"/>
            <a:chOff x="986700" y="238125"/>
            <a:chExt cx="2379075" cy="5238750"/>
          </a:xfrm>
        </p:grpSpPr>
        <p:sp>
          <p:nvSpPr>
            <p:cNvPr id="1129" name="Google Shape;1129;p4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0" name="Google Shape;1130;p4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8" name="Google Shape;1158;p4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9" name="Google Shape;1159;p4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6" name="Google Shape;1186;p4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7" name="Google Shape;1187;p4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4" name="Google Shape;1214;p4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5" name="Google Shape;1215;p4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6" name="Google Shape;1216;p4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7" name="Google Shape;1217;p4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8" name="Google Shape;1218;p4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9" name="Google Shape;1219;p4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0" name="Google Shape;1220;p4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1" name="Google Shape;1221;p4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2" name="Google Shape;1222;p4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3" name="Google Shape;1223;p4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4" name="Google Shape;1224;p4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5" name="Google Shape;1225;p4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6" name="Google Shape;1226;p4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7" name="Google Shape;1227;p4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8" name="Google Shape;1228;p4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29" name="Google Shape;1229;p4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0" name="Google Shape;1230;p4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1" name="Google Shape;1231;p4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2" name="Google Shape;1232;p4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3" name="Google Shape;1233;p4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4" name="Google Shape;1234;p4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5" name="Google Shape;1235;p4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6" name="Google Shape;1236;p4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7" name="Google Shape;1237;p4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8" name="Google Shape;1238;p4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39" name="Google Shape;1239;p4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0" name="Google Shape;1240;p4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1" name="Google Shape;1241;p4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2" name="Google Shape;1242;p4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3" name="Google Shape;1243;p4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4" name="Google Shape;1244;p4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5" name="Google Shape;1245;p4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6" name="Google Shape;1246;p4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47" name="Google Shape;1247;p4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248" name="Google Shape;1248;p4"/>
          <p:cNvGrpSpPr/>
          <p:nvPr/>
        </p:nvGrpSpPr>
        <p:grpSpPr>
          <a:xfrm rot="10800000">
            <a:off x="6367293" y="38264"/>
            <a:ext cx="2017555" cy="6781736"/>
            <a:chOff x="1588750" y="238125"/>
            <a:chExt cx="2078025" cy="5238750"/>
          </a:xfrm>
        </p:grpSpPr>
        <p:sp>
          <p:nvSpPr>
            <p:cNvPr id="1249" name="Google Shape;1249;p4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0" name="Google Shape;1250;p4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1" name="Google Shape;1251;p4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2" name="Google Shape;1252;p4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3" name="Google Shape;1253;p4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4" name="Google Shape;1254;p4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5" name="Google Shape;1255;p4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6" name="Google Shape;1256;p4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59" name="Google Shape;1259;p4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0" name="Google Shape;1260;p4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1" name="Google Shape;1261;p4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2" name="Google Shape;1262;p4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3" name="Google Shape;1263;p4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4" name="Google Shape;1264;p4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5" name="Google Shape;1265;p4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6" name="Google Shape;1266;p4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7" name="Google Shape;1267;p4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8" name="Google Shape;1268;p4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9" name="Google Shape;1269;p4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0" name="Google Shape;1270;p4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1" name="Google Shape;1271;p4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2" name="Google Shape;1272;p4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3" name="Google Shape;1273;p4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4" name="Google Shape;1274;p4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5" name="Google Shape;1275;p4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6" name="Google Shape;1276;p4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7" name="Google Shape;1277;p4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8" name="Google Shape;1278;p4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79" name="Google Shape;1279;p4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0" name="Google Shape;1280;p4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1" name="Google Shape;1281;p4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2" name="Google Shape;1282;p4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3" name="Google Shape;1283;p4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4" name="Google Shape;1284;p4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5" name="Google Shape;1285;p4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6" name="Google Shape;1286;p4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7" name="Google Shape;1287;p4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8" name="Google Shape;1288;p4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9" name="Google Shape;1289;p4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0" name="Google Shape;1290;p4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1" name="Google Shape;1291;p4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2" name="Google Shape;1292;p4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3" name="Google Shape;1293;p4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4" name="Google Shape;1294;p4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5" name="Google Shape;1295;p4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6" name="Google Shape;1296;p4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7" name="Google Shape;1297;p4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8" name="Google Shape;1298;p4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9" name="Google Shape;1299;p4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0" name="Google Shape;1300;p4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1" name="Google Shape;1301;p4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2" name="Google Shape;1302;p4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3" name="Google Shape;1303;p4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4" name="Google Shape;1304;p4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5" name="Google Shape;1305;p4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6" name="Google Shape;1306;p4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7" name="Google Shape;1307;p4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8" name="Google Shape;1308;p4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9" name="Google Shape;1309;p4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0" name="Google Shape;1310;p4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1" name="Google Shape;1311;p4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2" name="Google Shape;1312;p4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3" name="Google Shape;1313;p4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4" name="Google Shape;1314;p4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5" name="Google Shape;1315;p4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6" name="Google Shape;1316;p4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7" name="Google Shape;1317;p4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8" name="Google Shape;1318;p4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9" name="Google Shape;1319;p4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0" name="Google Shape;1320;p4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1" name="Google Shape;1321;p4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2" name="Google Shape;1322;p4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3" name="Google Shape;1323;p4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4" name="Google Shape;1324;p4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5" name="Google Shape;1325;p4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6" name="Google Shape;1326;p4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7" name="Google Shape;1327;p4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8" name="Google Shape;1328;p4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9" name="Google Shape;1329;p4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0" name="Google Shape;1330;p4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1" name="Google Shape;1331;p4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2" name="Google Shape;1332;p4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3" name="Google Shape;1333;p4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4" name="Google Shape;1334;p4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5" name="Google Shape;1335;p4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6" name="Google Shape;1336;p4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7" name="Google Shape;1337;p4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8" name="Google Shape;1338;p4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9" name="Google Shape;1339;p4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0" name="Google Shape;1340;p4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1" name="Google Shape;1341;p4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2" name="Google Shape;1342;p4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3" name="Google Shape;1343;p4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4" name="Google Shape;1344;p4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5" name="Google Shape;1345;p4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6" name="Google Shape;1346;p4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7" name="Google Shape;1347;p4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8" name="Google Shape;1348;p4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9" name="Google Shape;1349;p4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0" name="Google Shape;1350;p4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1" name="Google Shape;1351;p4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2" name="Google Shape;1352;p4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3" name="Google Shape;1353;p4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4" name="Google Shape;1354;p4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5" name="Google Shape;1355;p4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6" name="Google Shape;1356;p4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7" name="Google Shape;1357;p4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8" name="Google Shape;1358;p4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9" name="Google Shape;1359;p4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0" name="Google Shape;1360;p4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1" name="Google Shape;1361;p4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2" name="Google Shape;1362;p4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3" name="Google Shape;1363;p4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4" name="Google Shape;1364;p4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5" name="Google Shape;1365;p4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6" name="Google Shape;1366;p4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7" name="Google Shape;1367;p4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8" name="Google Shape;1368;p4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9" name="Google Shape;1369;p4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0" name="Google Shape;1370;p4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1" name="Google Shape;1371;p4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2" name="Google Shape;1372;p4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3" name="Google Shape;1373;p4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4" name="Google Shape;1374;p4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5" name="Google Shape;1375;p4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6" name="Google Shape;1376;p4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7" name="Google Shape;1377;p4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8" name="Google Shape;1378;p4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9" name="Google Shape;1379;p4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0" name="Google Shape;1380;p4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1" name="Google Shape;1381;p4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2" name="Google Shape;1382;p4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3" name="Google Shape;1383;p4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4" name="Google Shape;1384;p4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5" name="Google Shape;1385;p4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6" name="Google Shape;1386;p4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7" name="Google Shape;1387;p4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8" name="Google Shape;1388;p4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9" name="Google Shape;1389;p4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0" name="Google Shape;1390;p4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1" name="Google Shape;1391;p4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2" name="Google Shape;1392;p4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3" name="Google Shape;1393;p4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4" name="Google Shape;1394;p4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5" name="Google Shape;1395;p4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6" name="Google Shape;1396;p4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7" name="Google Shape;1397;p4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8" name="Google Shape;1398;p4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9" name="Google Shape;1399;p4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0" name="Google Shape;1400;p4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1" name="Google Shape;1401;p4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2" name="Google Shape;1402;p4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3" name="Google Shape;1403;p4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4" name="Google Shape;1404;p4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5" name="Google Shape;1405;p4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6" name="Google Shape;1406;p4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7" name="Google Shape;1407;p4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8" name="Google Shape;1408;p4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9" name="Google Shape;1409;p4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0" name="Google Shape;1410;p4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1" name="Google Shape;1411;p4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2" name="Google Shape;1412;p4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3" name="Google Shape;1413;p4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4" name="Google Shape;1414;p4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5" name="Google Shape;1415;p4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6" name="Google Shape;1416;p4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7" name="Google Shape;1417;p4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8" name="Google Shape;1418;p4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9" name="Google Shape;1419;p4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0" name="Google Shape;1420;p4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1" name="Google Shape;1421;p4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2" name="Google Shape;1422;p4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3" name="Google Shape;1423;p4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4" name="Google Shape;1424;p4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5" name="Google Shape;1425;p4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6" name="Google Shape;1426;p4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7" name="Google Shape;1427;p4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8" name="Google Shape;1428;p4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9" name="Google Shape;1429;p4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0" name="Google Shape;1430;p4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1" name="Google Shape;1431;p4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2" name="Google Shape;1432;p4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3" name="Google Shape;1433;p4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4" name="Google Shape;1434;p4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5" name="Google Shape;1435;p4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6" name="Google Shape;1436;p4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7" name="Google Shape;1437;p4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8" name="Google Shape;1438;p4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9" name="Google Shape;1439;p4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0" name="Google Shape;1440;p4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1" name="Google Shape;1441;p4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2" name="Google Shape;1442;p4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3" name="Google Shape;1443;p4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4" name="Google Shape;1444;p4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5" name="Google Shape;1445;p4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6" name="Google Shape;1446;p4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7" name="Google Shape;1447;p4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8" name="Google Shape;1448;p4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9" name="Google Shape;1449;p4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0" name="Google Shape;1450;p4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1" name="Google Shape;1451;p4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2" name="Google Shape;1452;p4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3" name="Google Shape;1453;p4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4" name="Google Shape;1454;p4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5" name="Google Shape;1455;p4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6" name="Google Shape;1456;p4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7" name="Google Shape;1457;p4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458" name="Google Shape;1458;p4"/>
          <p:cNvGrpSpPr/>
          <p:nvPr/>
        </p:nvGrpSpPr>
        <p:grpSpPr>
          <a:xfrm rot="10800000">
            <a:off x="6367295" y="38264"/>
            <a:ext cx="2309820" cy="6781736"/>
            <a:chOff x="1287725" y="238125"/>
            <a:chExt cx="2379050" cy="5238750"/>
          </a:xfrm>
        </p:grpSpPr>
        <p:sp>
          <p:nvSpPr>
            <p:cNvPr id="1459" name="Google Shape;1459;p4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0" name="Google Shape;1460;p4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1" name="Google Shape;1461;p4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2" name="Google Shape;1462;p4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3" name="Google Shape;1463;p4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4" name="Google Shape;1464;p4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5" name="Google Shape;1465;p4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6" name="Google Shape;1466;p4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7" name="Google Shape;1467;p4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8" name="Google Shape;1468;p4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9" name="Google Shape;1469;p4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0" name="Google Shape;1470;p4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1" name="Google Shape;1471;p4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2" name="Google Shape;1472;p4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3" name="Google Shape;1473;p4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4" name="Google Shape;1474;p4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5" name="Google Shape;1475;p4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6" name="Google Shape;1476;p4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7" name="Google Shape;1477;p4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8" name="Google Shape;1478;p4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9" name="Google Shape;1479;p4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0" name="Google Shape;1480;p4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1" name="Google Shape;1481;p4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2" name="Google Shape;1482;p4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3" name="Google Shape;1483;p4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4" name="Google Shape;1484;p4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5" name="Google Shape;1485;p4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6" name="Google Shape;1486;p4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7" name="Google Shape;1487;p4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8" name="Google Shape;1488;p4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9" name="Google Shape;1489;p4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0" name="Google Shape;1490;p4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1" name="Google Shape;1491;p4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2" name="Google Shape;1492;p4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3" name="Google Shape;1493;p4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4" name="Google Shape;1494;p4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5" name="Google Shape;1495;p4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6" name="Google Shape;1496;p4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7" name="Google Shape;1497;p4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8" name="Google Shape;1498;p4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9" name="Google Shape;1499;p4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0" name="Google Shape;1500;p4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1" name="Google Shape;1501;p4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2" name="Google Shape;1502;p4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3" name="Google Shape;1503;p4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4" name="Google Shape;1504;p4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5" name="Google Shape;1505;p4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6" name="Google Shape;1506;p4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7" name="Google Shape;1507;p4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8" name="Google Shape;1508;p4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9" name="Google Shape;1509;p4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0" name="Google Shape;1510;p4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1" name="Google Shape;1511;p4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2" name="Google Shape;1512;p4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3" name="Google Shape;1513;p4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4" name="Google Shape;1514;p4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5" name="Google Shape;1515;p4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6" name="Google Shape;1516;p4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7" name="Google Shape;1517;p4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8" name="Google Shape;1518;p4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9" name="Google Shape;1519;p4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0" name="Google Shape;1520;p4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1" name="Google Shape;1521;p4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2" name="Google Shape;1522;p4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3" name="Google Shape;1523;p4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4" name="Google Shape;1524;p4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5" name="Google Shape;1525;p4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6" name="Google Shape;1526;p4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7" name="Google Shape;1527;p4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8" name="Google Shape;1528;p4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9" name="Google Shape;1529;p4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0" name="Google Shape;1530;p4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1" name="Google Shape;1531;p4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2" name="Google Shape;1532;p4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3" name="Google Shape;1533;p4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4" name="Google Shape;1534;p4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5" name="Google Shape;1535;p4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6" name="Google Shape;1536;p4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7" name="Google Shape;1537;p4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8" name="Google Shape;1538;p4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9" name="Google Shape;1539;p4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0" name="Google Shape;1540;p4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1" name="Google Shape;1541;p4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2" name="Google Shape;1542;p4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3" name="Google Shape;1543;p4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4" name="Google Shape;1544;p4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5" name="Google Shape;1545;p4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6" name="Google Shape;1546;p4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7" name="Google Shape;1547;p4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8" name="Google Shape;1548;p4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9" name="Google Shape;1549;p4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0" name="Google Shape;1550;p4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1" name="Google Shape;1551;p4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2" name="Google Shape;1552;p4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3" name="Google Shape;1553;p4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4" name="Google Shape;1554;p4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5" name="Google Shape;1555;p4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6" name="Google Shape;1556;p4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7" name="Google Shape;1557;p4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8" name="Google Shape;1558;p4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9" name="Google Shape;1559;p4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0" name="Google Shape;1560;p4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1" name="Google Shape;1561;p4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562" name="Google Shape;1562;p4"/>
          <p:cNvSpPr txBox="1">
            <a:spLocks noGrp="1"/>
          </p:cNvSpPr>
          <p:nvPr>
            <p:ph type="sldNum" idx="12"/>
          </p:nvPr>
        </p:nvSpPr>
        <p:spPr>
          <a:xfrm>
            <a:off x="91531" y="629360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 descr="Dump truck outline">
            <a:extLst>
              <a:ext uri="{FF2B5EF4-FFF2-40B4-BE49-F238E27FC236}">
                <a16:creationId xmlns:a16="http://schemas.microsoft.com/office/drawing/2014/main" id="{D3764959-2E51-CED0-08F0-62E972539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92094" y="3654603"/>
            <a:ext cx="992300" cy="914400"/>
          </a:xfrm>
          <a:prstGeom prst="rect">
            <a:avLst/>
          </a:prstGeom>
        </p:spPr>
      </p:pic>
      <p:pic>
        <p:nvPicPr>
          <p:cNvPr id="7" name="Graphic 6" descr="Construction Barricade outline">
            <a:extLst>
              <a:ext uri="{FF2B5EF4-FFF2-40B4-BE49-F238E27FC236}">
                <a16:creationId xmlns:a16="http://schemas.microsoft.com/office/drawing/2014/main" id="{29E8A00F-DA13-120F-5835-69C85B7FF1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6709" y="4493400"/>
            <a:ext cx="914400" cy="914400"/>
          </a:xfrm>
          <a:prstGeom prst="rect">
            <a:avLst/>
          </a:prstGeom>
        </p:spPr>
      </p:pic>
      <p:pic>
        <p:nvPicPr>
          <p:cNvPr id="9" name="Graphic 8" descr="Hammer outline">
            <a:extLst>
              <a:ext uri="{FF2B5EF4-FFF2-40B4-BE49-F238E27FC236}">
                <a16:creationId xmlns:a16="http://schemas.microsoft.com/office/drawing/2014/main" id="{10A14B36-2FC4-6D51-DC5F-BE58131CA0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881" y="1857139"/>
            <a:ext cx="914400" cy="914400"/>
          </a:xfrm>
          <a:prstGeom prst="rect">
            <a:avLst/>
          </a:prstGeom>
        </p:spPr>
      </p:pic>
      <p:pic>
        <p:nvPicPr>
          <p:cNvPr id="15" name="Graphic 14" descr="Saw outline">
            <a:extLst>
              <a:ext uri="{FF2B5EF4-FFF2-40B4-BE49-F238E27FC236}">
                <a16:creationId xmlns:a16="http://schemas.microsoft.com/office/drawing/2014/main" id="{207DE6E7-44FF-8262-F161-99EA4B28F9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102374" y="3819936"/>
            <a:ext cx="914400" cy="914400"/>
          </a:xfrm>
          <a:prstGeom prst="rect">
            <a:avLst/>
          </a:prstGeom>
        </p:spPr>
      </p:pic>
      <p:pic>
        <p:nvPicPr>
          <p:cNvPr id="19" name="Graphic 18" descr="Labor outline">
            <a:extLst>
              <a:ext uri="{FF2B5EF4-FFF2-40B4-BE49-F238E27FC236}">
                <a16:creationId xmlns:a16="http://schemas.microsoft.com/office/drawing/2014/main" id="{420543A0-7D41-8BBF-1EBD-2179A45810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9574" y="17306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333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3" y="493950"/>
            <a:ext cx="6761100" cy="80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3" y="1442000"/>
            <a:ext cx="6761100" cy="3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C0F8B3-2E6A-D4D4-FC10-5A5EA54A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044" y="6376663"/>
            <a:ext cx="4434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0">
                <a:solidFill>
                  <a:schemeClr val="accent4">
                    <a:lumMod val="75000"/>
                  </a:schemeClr>
                </a:solidFill>
                <a:latin typeface="Titillium Web Light" panose="00000400000000000000" pitchFamily="2" charset="0"/>
              </a:defRPr>
            </a:lvl1pPr>
          </a:lstStyle>
          <a:p>
            <a:fld id="{FB9E9910-1E0C-4E4F-BB94-97A99C37B229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2697E-5E58-1E44-DC7D-DF0A84A0EEBD}"/>
              </a:ext>
            </a:extLst>
          </p:cNvPr>
          <p:cNvSpPr txBox="1"/>
          <p:nvPr userDrawn="1"/>
        </p:nvSpPr>
        <p:spPr>
          <a:xfrm>
            <a:off x="1856312" y="6447962"/>
            <a:ext cx="44598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tillium Web ExtraLight" panose="020F0502020204030204" pitchFamily="2" charset="0"/>
              </a:rPr>
              <a:t>Copyright © 2026 Michael Stahl / Shmuel Gershon. All rights reserved. </a:t>
            </a:r>
            <a:endParaRPr lang="en-IL" sz="1050" dirty="0">
              <a:latin typeface="Titillium Web ExtraLight" panose="020F0502020204030204" pitchFamily="2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51" r:id="rId2"/>
    <p:sldLayoutId id="2147483663" r:id="rId3"/>
    <p:sldLayoutId id="2147483664" r:id="rId4"/>
    <p:sldLayoutId id="2147483665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t-tweak.gershon.info/doc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t-tweak.gershon.info/doc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t-tweak.gershon.info/doc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stqb.org/certifications/gen-ai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t-tweak.gershon.info/doc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forms/d/e/1FAIpQLSfg9d7_pQQE98cUn6jX-2aAgQW5h-sykM_le_9-ignbY8TP_Q/viewform?usp=header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unsplas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5" name="Google Shape;3865;p17"/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1</a:t>
            </a:fld>
            <a:endParaRPr/>
          </a:p>
        </p:txBody>
      </p:sp>
      <p:sp>
        <p:nvSpPr>
          <p:cNvPr id="4" name="Google Shape;3864;p17">
            <a:extLst>
              <a:ext uri="{FF2B5EF4-FFF2-40B4-BE49-F238E27FC236}">
                <a16:creationId xmlns:a16="http://schemas.microsoft.com/office/drawing/2014/main" id="{1D5FD5E0-6205-0FB3-6BD5-83E053741786}"/>
              </a:ext>
            </a:extLst>
          </p:cNvPr>
          <p:cNvSpPr txBox="1">
            <a:spLocks/>
          </p:cNvSpPr>
          <p:nvPr/>
        </p:nvSpPr>
        <p:spPr>
          <a:xfrm>
            <a:off x="1641454" y="615841"/>
            <a:ext cx="3982775" cy="4654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55" marR="0" lvl="0" indent="-41906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tillium Web Light"/>
              <a:buNone/>
              <a:defRPr sz="3000" b="0" i="1" u="none" strike="noStrike" cap="none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309" marR="0" lvl="1" indent="-41906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tillium Web Light"/>
              <a:buChar char="▫"/>
              <a:defRPr sz="3000" b="0" i="1" u="none" strike="noStrike" cap="none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464" marR="0" lvl="2" indent="-41906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tillium Web Light"/>
              <a:buChar char="▫"/>
              <a:defRPr sz="3000" b="0" i="1" u="none" strike="noStrike" cap="none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618" marR="0" lvl="3" indent="-41906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tillium Web Light"/>
              <a:buChar char="▫"/>
              <a:defRPr sz="3000" b="0" i="1" u="none" strike="noStrike" cap="none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5774" marR="0" lvl="4" indent="-41906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tillium Web Light"/>
              <a:buChar char="▫"/>
              <a:defRPr sz="3000" b="0" i="1" u="none" strike="noStrike" cap="none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2926" marR="0" lvl="5" indent="-41906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tillium Web Light"/>
              <a:buChar char="▫"/>
              <a:defRPr sz="3000" b="0" i="1" u="none" strike="noStrike" cap="none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080" marR="0" lvl="6" indent="-41906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tillium Web Light"/>
              <a:buChar char="●"/>
              <a:defRPr sz="3000" b="0" i="1" u="none" strike="noStrike" cap="none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235" marR="0" lvl="7" indent="-41906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tillium Web Light"/>
              <a:buChar char="○"/>
              <a:defRPr sz="3000" b="0" i="1" u="none" strike="noStrike" cap="none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389" marR="0" lvl="8" indent="-41906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tillium Web Light"/>
              <a:buChar char="■"/>
              <a:defRPr sz="3000" b="0" i="1" u="none" strike="noStrike" cap="none">
                <a:solidFill>
                  <a:srgbClr val="FFFFFF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0" indent="0"/>
            <a:r>
              <a:rPr lang="en-US" sz="5400" b="1" i="0"/>
              <a:t>Class Activity</a:t>
            </a:r>
          </a:p>
          <a:p>
            <a:pPr marL="0" indent="0"/>
            <a:endParaRPr lang="en-US" sz="5400" b="1" i="0"/>
          </a:p>
          <a:p>
            <a:pPr marL="0" indent="0" algn="ctr"/>
            <a:r>
              <a:rPr lang="en-US" sz="4000" b="1" i="0">
                <a:solidFill>
                  <a:schemeClr val="accent2">
                    <a:lumMod val="20000"/>
                    <a:lumOff val="80000"/>
                  </a:schemeClr>
                </a:solidFill>
              </a:rPr>
              <a:t>API review</a:t>
            </a:r>
            <a:endParaRPr lang="en-US" sz="4000" b="1" i="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2B7F-3306-036B-A807-6F11DA66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6C789B-2D7E-07D7-ED11-08478B0AE392}"/>
              </a:ext>
            </a:extLst>
          </p:cNvPr>
          <p:cNvSpPr/>
          <p:nvPr/>
        </p:nvSpPr>
        <p:spPr>
          <a:xfrm>
            <a:off x="640231" y="5280144"/>
            <a:ext cx="7025604" cy="7356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rgbClr val="C00000"/>
                </a:solidFill>
                <a:latin typeface="Titillium Web Light" panose="00000400000000000000" pitchFamily="2" charset="0"/>
              </a:rPr>
              <a:t>Don’t</a:t>
            </a:r>
            <a:r>
              <a:rPr lang="en-US" sz="1800" dirty="0">
                <a:solidFill>
                  <a:srgbClr val="C00000"/>
                </a:solidFill>
                <a:latin typeface="Titillium Web Light" panose="00000400000000000000" pitchFamily="2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tillium Web Light" panose="00000400000000000000" pitchFamily="2" charset="0"/>
              </a:rPr>
              <a:t>rush to ChatGPT and spend time learning about json format, REST and OpenAPI before proceeding; it’s not needed for the exercise. </a:t>
            </a:r>
            <a:endParaRPr lang="en-IL" sz="1800" dirty="0">
              <a:solidFill>
                <a:schemeClr val="tx1"/>
              </a:solidFill>
              <a:latin typeface="Titillium Web Light" panose="000004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1DFA8-540A-50DF-8DD7-BF3CD2DA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exercise instructions (1)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34EB6-C399-8391-E4DB-D363AA698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89"/>
            <a:ext cx="7306683" cy="383194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T-Tweak Overview</a:t>
            </a:r>
            <a:endParaRPr lang="en-IL" dirty="0"/>
          </a:p>
          <a:p>
            <a:r>
              <a:rPr lang="en-US" dirty="0"/>
              <a:t>A web-based string-manipulation service</a:t>
            </a:r>
          </a:p>
          <a:p>
            <a:r>
              <a:rPr lang="en-US" dirty="0"/>
              <a:t>Provides services through HTTP calls</a:t>
            </a:r>
          </a:p>
          <a:p>
            <a:pPr lvl="1"/>
            <a:r>
              <a:rPr lang="en-US" dirty="0"/>
              <a:t>The user can send tasks to the web-service and receive back a response in </a:t>
            </a:r>
            <a:r>
              <a:rPr lang="en-US" b="1" dirty="0"/>
              <a:t>json</a:t>
            </a:r>
            <a:r>
              <a:rPr lang="en-US" dirty="0"/>
              <a:t> format. </a:t>
            </a:r>
          </a:p>
          <a:p>
            <a:pPr marL="0" indent="0">
              <a:buNone/>
            </a:pPr>
            <a:endParaRPr lang="en-IL" sz="1200" dirty="0"/>
          </a:p>
          <a:p>
            <a:r>
              <a:rPr lang="en-US" dirty="0"/>
              <a:t>Before coding the service, we defined the interface to each API</a:t>
            </a:r>
          </a:p>
          <a:p>
            <a:pPr lvl="1"/>
            <a:r>
              <a:rPr lang="en-US" dirty="0"/>
              <a:t>We use the OpenAPI standard to define a REST API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B112D-B3E8-9444-4DAF-D6182857E3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86997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E126-0AC3-2F25-AF6C-87A111707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9604-A660-A680-7B2F-9E72BA64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exercise instructions (2)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C4828-B1E9-2E7F-F9AE-1B97D8653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90"/>
            <a:ext cx="7306683" cy="5029710"/>
          </a:xfrm>
        </p:spPr>
        <p:txBody>
          <a:bodyPr/>
          <a:lstStyle/>
          <a:p>
            <a:r>
              <a:rPr lang="en-US" dirty="0"/>
              <a:t>All the APIs are of type “GET”. </a:t>
            </a:r>
          </a:p>
          <a:p>
            <a:pPr lvl="1"/>
            <a:r>
              <a:rPr lang="en-US" dirty="0"/>
              <a:t>You send something to the service and expect an answer</a:t>
            </a:r>
          </a:p>
          <a:p>
            <a:pPr lvl="1"/>
            <a:r>
              <a:rPr lang="en-US" dirty="0"/>
              <a:t>Good input returns actual result</a:t>
            </a:r>
          </a:p>
          <a:p>
            <a:pPr lvl="1"/>
            <a:r>
              <a:rPr lang="en-US" dirty="0"/>
              <a:t>Bad input returns an error</a:t>
            </a:r>
            <a:endParaRPr lang="en-IL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L" dirty="0"/>
          </a:p>
          <a:p>
            <a:r>
              <a:rPr lang="en-US" dirty="0"/>
              <a:t>The API definitions are at </a:t>
            </a:r>
          </a:p>
          <a:p>
            <a:pPr marL="0" indent="0" algn="ctr">
              <a:buNone/>
            </a:pPr>
            <a:r>
              <a:rPr lang="en-US" u="sng" dirty="0">
                <a:hlinkClick r:id="rId2"/>
              </a:rPr>
              <a:t>http://t-tweak.gershon.info/docs</a:t>
            </a:r>
            <a:r>
              <a:rPr lang="en-US" dirty="0"/>
              <a:t>  </a:t>
            </a:r>
            <a:endParaRPr lang="en-IL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2400E-3FAD-E0AF-0E07-1277E14E98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AD34BF-ADD7-68FE-6DE0-8627568C83A5}"/>
              </a:ext>
            </a:extLst>
          </p:cNvPr>
          <p:cNvSpPr/>
          <p:nvPr/>
        </p:nvSpPr>
        <p:spPr>
          <a:xfrm>
            <a:off x="640231" y="4963886"/>
            <a:ext cx="7025604" cy="8387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rgbClr val="C00000"/>
                </a:solidFill>
                <a:latin typeface="Titillium Web Light" panose="00000400000000000000" pitchFamily="2" charset="0"/>
              </a:rPr>
              <a:t>Note:</a:t>
            </a:r>
            <a:r>
              <a:rPr lang="en-US" sz="1800" b="1" dirty="0">
                <a:solidFill>
                  <a:schemeClr val="tx1"/>
                </a:solidFill>
                <a:latin typeface="Titillium Web Light" panose="00000400000000000000" pitchFamily="2" charset="0"/>
              </a:rPr>
              <a:t> This UI is called “Swagger UI”.  The interface includes a description of each API, the parameters used and the expected output</a:t>
            </a:r>
            <a:endParaRPr lang="en-IL" sz="1800" dirty="0">
              <a:solidFill>
                <a:schemeClr val="tx1"/>
              </a:solidFill>
              <a:latin typeface="Titillium Web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71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6A3EB-B47A-ED5B-768D-E0705146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C1ED-1E0E-C262-F37B-961157FF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exercise instructions (3)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CB60E-7D15-22C8-D17B-B6E287A16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90"/>
            <a:ext cx="7306683" cy="5029710"/>
          </a:xfrm>
        </p:spPr>
        <p:txBody>
          <a:bodyPr/>
          <a:lstStyle/>
          <a:p>
            <a:pPr lvl="0"/>
            <a:r>
              <a:rPr lang="en-US" dirty="0"/>
              <a:t>Go to </a:t>
            </a:r>
            <a:r>
              <a:rPr lang="en-US" u="sng" dirty="0">
                <a:hlinkClick r:id="rId3"/>
              </a:rPr>
              <a:t>http://t-tweak.gershon.info/docs</a:t>
            </a:r>
            <a:r>
              <a:rPr lang="en-US" dirty="0"/>
              <a:t> and try to understand the different APIs (10 min)</a:t>
            </a:r>
            <a:endParaRPr lang="en-IL" dirty="0"/>
          </a:p>
          <a:p>
            <a:pPr lvl="0"/>
            <a:endParaRPr lang="en-US" dirty="0"/>
          </a:p>
          <a:p>
            <a:pPr lvl="0"/>
            <a:r>
              <a:rPr lang="en-US" dirty="0"/>
              <a:t>Use any LLM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WAIT!!! See next slide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To learn about reviews: (15 min)</a:t>
            </a:r>
            <a:endParaRPr lang="en-IL" sz="1800" dirty="0"/>
          </a:p>
          <a:p>
            <a:pPr lvl="1"/>
            <a:r>
              <a:rPr lang="en-US" dirty="0"/>
              <a:t>What to look for when doing a review?</a:t>
            </a:r>
            <a:endParaRPr lang="en-IL" sz="1600" dirty="0"/>
          </a:p>
          <a:p>
            <a:pPr lvl="1"/>
            <a:r>
              <a:rPr lang="en-US" dirty="0"/>
              <a:t>What categories of mistakes can reviews find? </a:t>
            </a:r>
            <a:endParaRPr lang="en-IL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BCDB8-6315-0A75-CBA5-7ED8F83F63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233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CD1AC-F05B-4184-B038-309E2A1DB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4551-EAA8-514B-7926-42E5F571B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exercise instructions (3)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2778B-3BB9-BCCD-62F1-CA682288B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90"/>
            <a:ext cx="7306683" cy="5029710"/>
          </a:xfrm>
        </p:spPr>
        <p:txBody>
          <a:bodyPr/>
          <a:lstStyle/>
          <a:p>
            <a:pPr lvl="0"/>
            <a:r>
              <a:rPr lang="en-US" dirty="0"/>
              <a:t>Go to </a:t>
            </a:r>
            <a:r>
              <a:rPr lang="en-US" u="sng" dirty="0">
                <a:hlinkClick r:id="rId3"/>
              </a:rPr>
              <a:t>http://t-tweak.gershon.info/docs</a:t>
            </a:r>
            <a:r>
              <a:rPr lang="en-US" dirty="0"/>
              <a:t> and try to understand the different APIs (10 min)</a:t>
            </a:r>
            <a:endParaRPr lang="en-IL" dirty="0"/>
          </a:p>
          <a:p>
            <a:pPr lvl="0"/>
            <a:endParaRPr lang="en-US" dirty="0"/>
          </a:p>
          <a:p>
            <a:pPr lvl="0"/>
            <a:r>
              <a:rPr lang="en-US" dirty="0"/>
              <a:t>Use any LLM ….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 algn="ctr">
              <a:buNone/>
            </a:pPr>
            <a:r>
              <a:rPr lang="en-US" dirty="0">
                <a:solidFill>
                  <a:srgbClr val="C00000"/>
                </a:solidFill>
              </a:rPr>
              <a:t>WAIT!!! See next slide</a:t>
            </a:r>
          </a:p>
          <a:p>
            <a:pPr lvl="0"/>
            <a:endParaRPr lang="en-IL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579DF-7D14-A6BF-B29F-17BAA37D8B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213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5A88-6FE6-B893-D8A3-30421476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6B57-284C-828E-7297-F23AE678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prompt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4BC55-B6CB-29A4-26EB-4B511D2C22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680FA6-6E54-8502-94ED-E4212FB6F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299"/>
              </p:ext>
            </p:extLst>
          </p:nvPr>
        </p:nvGraphicFramePr>
        <p:xfrm>
          <a:off x="970546" y="1653673"/>
          <a:ext cx="6681537" cy="4233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3917">
                  <a:extLst>
                    <a:ext uri="{9D8B030D-6E8A-4147-A177-3AD203B41FA5}">
                      <a16:colId xmlns:a16="http://schemas.microsoft.com/office/drawing/2014/main" val="326403939"/>
                    </a:ext>
                  </a:extLst>
                </a:gridCol>
                <a:gridCol w="4427620">
                  <a:extLst>
                    <a:ext uri="{9D8B030D-6E8A-4147-A177-3AD203B41FA5}">
                      <a16:colId xmlns:a16="http://schemas.microsoft.com/office/drawing/2014/main" val="3433657796"/>
                    </a:ext>
                  </a:extLst>
                </a:gridCol>
              </a:tblGrid>
              <a:tr h="63988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B0F0"/>
                          </a:solidFill>
                        </a:rPr>
                        <a:t>Role</a:t>
                      </a:r>
                      <a:endParaRPr lang="en-IL" sz="2400" dirty="0">
                        <a:solidFill>
                          <a:srgbClr val="00B0F0"/>
                        </a:solidFill>
                        <a:latin typeface="Titillium Web Light" panose="000004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Who are you? (e.g. student; tester; manager)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Titillium Web Light" panose="00000400000000000000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1885611"/>
                  </a:ext>
                </a:extLst>
              </a:tr>
              <a:tr h="525935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Context</a:t>
                      </a:r>
                      <a:endParaRPr lang="en-IL" sz="2400" dirty="0">
                        <a:solidFill>
                          <a:srgbClr val="00B050"/>
                        </a:solidFill>
                        <a:latin typeface="Titillium Web Light" panose="000004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Any relevant contextual information</a:t>
                      </a:r>
                      <a:endParaRPr lang="en-IL" sz="1800" b="0" i="0" u="none" strike="noStrike">
                        <a:solidFill>
                          <a:srgbClr val="000000"/>
                        </a:solidFill>
                        <a:effectLst/>
                        <a:latin typeface="Titillium Web Light" panose="00000400000000000000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45813320"/>
                  </a:ext>
                </a:extLst>
              </a:tr>
              <a:tr h="525935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Instructions</a:t>
                      </a:r>
                      <a:endParaRPr lang="en-IL" sz="2400" dirty="0">
                        <a:solidFill>
                          <a:schemeClr val="accent2"/>
                        </a:solidFill>
                        <a:latin typeface="Titillium Web Light" panose="000004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What do you want the LLM to do? 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Titillium Web Light" panose="00000400000000000000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59507934"/>
                  </a:ext>
                </a:extLst>
              </a:tr>
              <a:tr h="95544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Input data</a:t>
                      </a:r>
                      <a:endParaRPr lang="en-IL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tillium Web Light" panose="000004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Any information needed to perform the task (e.g. requirements, images, code, data)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Titillium Web Light" panose="00000400000000000000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08445348"/>
                  </a:ext>
                </a:extLst>
              </a:tr>
              <a:tr h="63988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Constraints</a:t>
                      </a:r>
                      <a:endParaRPr lang="en-IL" sz="2400" dirty="0">
                        <a:solidFill>
                          <a:srgbClr val="C00000"/>
                        </a:solidFill>
                        <a:latin typeface="Titillium Web Light" panose="000004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Restrictions or special considerations that the LLM should adhere to. 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Titillium Web Light" panose="00000400000000000000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11377017"/>
                  </a:ext>
                </a:extLst>
              </a:tr>
              <a:tr h="94668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Output format</a:t>
                      </a:r>
                      <a:endParaRPr lang="en-IL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Titillium Web Light" panose="000004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L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How you want the output to be </a:t>
                      </a:r>
                      <a:endParaRPr lang="en-IL" sz="1800" b="0" i="0" u="none" strike="noStrike" dirty="0">
                        <a:solidFill>
                          <a:srgbClr val="000000"/>
                        </a:solidFill>
                        <a:effectLst/>
                        <a:latin typeface="Titillium Web Light" panose="00000400000000000000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64772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0AA180-EDAC-6576-D842-C599AFF900EC}"/>
              </a:ext>
            </a:extLst>
          </p:cNvPr>
          <p:cNvSpPr txBox="1"/>
          <p:nvPr/>
        </p:nvSpPr>
        <p:spPr>
          <a:xfrm>
            <a:off x="1134000" y="5913945"/>
            <a:ext cx="641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Source: ISTQB </a:t>
            </a:r>
            <a:r>
              <a:rPr lang="en-IL" sz="1100" dirty="0">
                <a:hlinkClick r:id="rId3"/>
              </a:rPr>
              <a:t>Certified Tester – Testing with Generative AI (CT-GenAI)</a:t>
            </a:r>
            <a:endParaRPr lang="en-IL" sz="1100" dirty="0"/>
          </a:p>
        </p:txBody>
      </p:sp>
    </p:spTree>
    <p:extLst>
      <p:ext uri="{BB962C8B-B14F-4D97-AF65-F5344CB8AC3E}">
        <p14:creationId xmlns:p14="http://schemas.microsoft.com/office/powerpoint/2010/main" val="1827462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E9A9D-235D-AE11-7C79-7E81FD64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D088-3643-EBC0-450B-73646D19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prompt example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34DC1-2A8D-46BF-C975-B87E1BC61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I am a student in a software testing course. </a:t>
            </a:r>
            <a:r>
              <a:rPr lang="en-US" dirty="0">
                <a:solidFill>
                  <a:srgbClr val="00B050"/>
                </a:solidFill>
              </a:rPr>
              <a:t>I am tasked with performing review of requirements for APIs. The definitions are based on the OpenAI standard and displayed via the Swagger UI.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a.    What to look for when doing a review?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b.    What categories of mistakes can reviews find? 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[no input data in this example]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Keep your answer to (a) concise </a:t>
            </a:r>
            <a:r>
              <a:rPr lang="en-US" dirty="0"/>
              <a:t>and for (b)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give a list of categories (one word category), with a short (1-2 sentences) explanation of the category</a:t>
            </a:r>
          </a:p>
          <a:p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IL" dirty="0"/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3DB67-05F0-ECA1-4054-380B5B7B72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9223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0C979-C15B-F3B9-2FF8-76AE7D276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75E2-3E34-A5DA-57EC-8FFCDB1A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exercise instructions (3)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AB6F8-84D9-D388-D43E-85C7C2E33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90"/>
            <a:ext cx="7306683" cy="5029710"/>
          </a:xfrm>
        </p:spPr>
        <p:txBody>
          <a:bodyPr/>
          <a:lstStyle/>
          <a:p>
            <a:pPr lvl="0"/>
            <a:r>
              <a:rPr lang="en-US" dirty="0"/>
              <a:t>Go to </a:t>
            </a:r>
            <a:r>
              <a:rPr lang="en-US" u="sng" dirty="0">
                <a:hlinkClick r:id="rId3"/>
              </a:rPr>
              <a:t>http://t-tweak.gershon.info/docs</a:t>
            </a:r>
            <a:r>
              <a:rPr lang="en-US" dirty="0"/>
              <a:t> and try to understand the different APIs (10 min)</a:t>
            </a:r>
            <a:endParaRPr lang="en-IL" dirty="0"/>
          </a:p>
          <a:p>
            <a:pPr lvl="0"/>
            <a:endParaRPr lang="en-US" dirty="0"/>
          </a:p>
          <a:p>
            <a:pPr lvl="0"/>
            <a:r>
              <a:rPr lang="en-US" dirty="0"/>
              <a:t>Use any LLM, find information about Reviews (10 min)</a:t>
            </a:r>
          </a:p>
          <a:p>
            <a:pPr lvl="0"/>
            <a:endParaRPr lang="en-US" sz="1600" dirty="0"/>
          </a:p>
          <a:p>
            <a:r>
              <a:rPr lang="en-US" dirty="0"/>
              <a:t>Review the T-Tweak API information and log issues to </a:t>
            </a:r>
            <a:r>
              <a:rPr lang="en-US" u="sng" dirty="0">
                <a:hlinkClick r:id="rId4"/>
              </a:rPr>
              <a:t>this form</a:t>
            </a:r>
            <a:r>
              <a:rPr lang="en-US" dirty="0"/>
              <a:t>.  </a:t>
            </a:r>
            <a:r>
              <a:rPr lang="en-US"/>
              <a:t>(20 min)</a:t>
            </a:r>
            <a:endParaRPr lang="en-IL" dirty="0"/>
          </a:p>
          <a:p>
            <a:pPr lvl="0"/>
            <a:endParaRPr lang="en-IL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1A18A-8526-F856-06D0-A7E6C9287E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03295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A184-E7A7-A2DA-80D8-3F7D1FC7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531B-F10A-15AF-4483-1E0FE562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 - discussion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E8D40-7AB7-D94E-A0D4-A0DF89753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034" y="1255690"/>
            <a:ext cx="7306683" cy="5029710"/>
          </a:xfrm>
        </p:spPr>
        <p:txBody>
          <a:bodyPr/>
          <a:lstStyle/>
          <a:p>
            <a:pPr lvl="0"/>
            <a:r>
              <a:rPr lang="en-US" dirty="0"/>
              <a:t>What is clear in the API description?</a:t>
            </a:r>
            <a:endParaRPr lang="en-IL" dirty="0"/>
          </a:p>
          <a:p>
            <a:pPr lvl="0"/>
            <a:r>
              <a:rPr lang="en-US" dirty="0"/>
              <a:t>What is missing?</a:t>
            </a:r>
            <a:endParaRPr lang="en-IL" dirty="0"/>
          </a:p>
          <a:p>
            <a:pPr lvl="0"/>
            <a:r>
              <a:rPr lang="en-US" dirty="0"/>
              <a:t>Anything else you find problematic? </a:t>
            </a:r>
            <a:endParaRPr lang="en-IL" dirty="0"/>
          </a:p>
          <a:p>
            <a:pPr lvl="0"/>
            <a:endParaRPr lang="en-IL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C2036-0531-5DD5-8E0F-C5733BF861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9343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6" name="Google Shape;4046;p37"/>
          <p:cNvSpPr txBox="1">
            <a:spLocks noGrp="1"/>
          </p:cNvSpPr>
          <p:nvPr>
            <p:ph type="title"/>
          </p:nvPr>
        </p:nvSpPr>
        <p:spPr>
          <a:xfrm>
            <a:off x="718303" y="159662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CREDITS</a:t>
            </a:r>
            <a:endParaRPr/>
          </a:p>
        </p:txBody>
      </p:sp>
      <p:sp>
        <p:nvSpPr>
          <p:cNvPr id="4047" name="Google Shape;4047;p37"/>
          <p:cNvSpPr txBox="1">
            <a:spLocks noGrp="1"/>
          </p:cNvSpPr>
          <p:nvPr>
            <p:ph type="body" idx="1"/>
          </p:nvPr>
        </p:nvSpPr>
        <p:spPr>
          <a:xfrm>
            <a:off x="718303" y="2590803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/>
              <a:t>Special thanks to all the people who made and released these awesome resources for free:</a:t>
            </a:r>
            <a:endParaRPr/>
          </a:p>
          <a:p>
            <a:pPr>
              <a:lnSpc>
                <a:spcPct val="115000"/>
              </a:lnSpc>
            </a:pPr>
            <a:r>
              <a:rPr lang="en"/>
              <a:t>Presentation template by </a:t>
            </a:r>
            <a:r>
              <a:rPr lang="en" u="sng">
                <a:solidFill>
                  <a:srgbClr val="0B87A1"/>
                </a:solidFill>
                <a:hlinkClick r:id="rId3"/>
              </a:rPr>
              <a:t>SlidesCarnival</a:t>
            </a:r>
            <a:endParaRPr>
              <a:solidFill>
                <a:srgbClr val="0B87A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"/>
              <a:t>Photographs by </a:t>
            </a:r>
            <a:r>
              <a:rPr lang="en" u="sng">
                <a:solidFill>
                  <a:srgbClr val="0B87A1"/>
                </a:solidFill>
                <a:hlinkClick r:id="rId4"/>
              </a:rPr>
              <a:t>Unsplash</a:t>
            </a:r>
            <a:endParaRPr>
              <a:solidFill>
                <a:srgbClr val="0B87A1"/>
              </a:solidFill>
            </a:endParaRPr>
          </a:p>
        </p:txBody>
      </p:sp>
      <p:sp>
        <p:nvSpPr>
          <p:cNvPr id="4048" name="Google Shape;4048;p37"/>
          <p:cNvSpPr txBox="1">
            <a:spLocks noGrp="1"/>
          </p:cNvSpPr>
          <p:nvPr>
            <p:ph type="sldNum" idx="12"/>
          </p:nvPr>
        </p:nvSpPr>
        <p:spPr>
          <a:xfrm>
            <a:off x="91531" y="55774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A08F610-A8DE-48EE-AF9F-85797E90A7E6}" vid="{0ADC40FC-5C20-46E2-A963-C915CABD987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Mowbray 4-3 SlidesCarnival for HUJI</Template>
  <TotalTime>3005</TotalTime>
  <Words>1130</Words>
  <Application>Microsoft Office PowerPoint</Application>
  <PresentationFormat>On-screen Show (4:3)</PresentationFormat>
  <Paragraphs>118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Titillium Web Light</vt:lpstr>
      <vt:lpstr>Titillium Web ExtraLight</vt:lpstr>
      <vt:lpstr>Arial</vt:lpstr>
      <vt:lpstr>Dosis Light</vt:lpstr>
      <vt:lpstr>Wingdings</vt:lpstr>
      <vt:lpstr>Mowbray template</vt:lpstr>
      <vt:lpstr>PowerPoint Presentation</vt:lpstr>
      <vt:lpstr>Review exercise instructions (1)</vt:lpstr>
      <vt:lpstr>Review exercise instructions (2)</vt:lpstr>
      <vt:lpstr>Review exercise instructions (3)</vt:lpstr>
      <vt:lpstr>Review exercise instructions (3)</vt:lpstr>
      <vt:lpstr>Structured prompt</vt:lpstr>
      <vt:lpstr>Structured prompt example</vt:lpstr>
      <vt:lpstr>Review exercise instructions (3)</vt:lpstr>
      <vt:lpstr>Class activity - discussion</vt:lpstr>
      <vt:lpstr>CREDITS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Stahl</dc:creator>
  <cp:lastModifiedBy>Michael Stahl</cp:lastModifiedBy>
  <cp:revision>2</cp:revision>
  <dcterms:created xsi:type="dcterms:W3CDTF">2024-12-22T09:09:46Z</dcterms:created>
  <dcterms:modified xsi:type="dcterms:W3CDTF">2026-09-06T14:04:24Z</dcterms:modified>
</cp:coreProperties>
</file>