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1031" r:id="rId2"/>
    <p:sldId id="1032" r:id="rId3"/>
    <p:sldId id="1033" r:id="rId4"/>
    <p:sldId id="1034" r:id="rId5"/>
    <p:sldId id="986" r:id="rId6"/>
    <p:sldId id="508" r:id="rId7"/>
    <p:sldId id="280" r:id="rId8"/>
  </p:sldIdLst>
  <p:sldSz cx="9144000" cy="6858000" type="screen4x3"/>
  <p:notesSz cx="6858000" cy="9144000"/>
  <p:embeddedFontLst>
    <p:embeddedFont>
      <p:font typeface="Dosis Light" pitchFamily="2" charset="0"/>
      <p:regular r:id="rId10"/>
      <p:bold r:id="rId11"/>
    </p:embeddedFont>
    <p:embeddedFont>
      <p:font typeface="Titillium Web ExtraLight" panose="00000300000000000000" pitchFamily="2" charset="0"/>
      <p:regular r:id="rId12"/>
      <p:italic r:id="rId13"/>
    </p:embeddedFont>
    <p:embeddedFont>
      <p:font typeface="Titillium Web Light" panose="000004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92955" autoAdjust="0"/>
  </p:normalViewPr>
  <p:slideViewPr>
    <p:cSldViewPr snapToGrid="0">
      <p:cViewPr varScale="1">
        <p:scale>
          <a:sx n="83" d="100"/>
          <a:sy n="83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tahl" userId="1bd406a94c0b4a41" providerId="LiveId" clId="{06F263C8-35B2-477E-9931-FD30AF4771AB}"/>
    <pc:docChg chg="delSld delSection modSection">
      <pc:chgData name="Michael Stahl" userId="1bd406a94c0b4a41" providerId="LiveId" clId="{06F263C8-35B2-477E-9931-FD30AF4771AB}" dt="2026-09-06T13:58:49.113" v="3" actId="17853"/>
      <pc:docMkLst>
        <pc:docMk/>
      </pc:docMkLst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26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31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51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57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617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660106428" sldId="626"/>
        </pc:sldMkLst>
      </pc:sldChg>
      <pc:sldChg chg="del">
        <pc:chgData name="Michael Stahl" userId="1bd406a94c0b4a41" providerId="LiveId" clId="{06F263C8-35B2-477E-9931-FD30AF4771AB}" dt="2026-09-06T13:58:41.105" v="1" actId="47"/>
        <pc:sldMkLst>
          <pc:docMk/>
          <pc:sldMk cId="2990442760" sldId="627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721551737" sldId="65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912684877" sldId="65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907864026" sldId="66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752159020" sldId="67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134511209" sldId="67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346786642" sldId="673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482546710" sldId="674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465442752" sldId="67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693173476" sldId="67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380212379" sldId="677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680504276" sldId="67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776644516" sldId="68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711551525" sldId="68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68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69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0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0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694948627" sldId="71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14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1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1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520500930" sldId="72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2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961498896" sldId="73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394724117" sldId="73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3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092150909" sldId="73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988677753" sldId="74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948052063" sldId="74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4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43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197465072" sldId="74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5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75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707598250" sldId="753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057788968" sldId="754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239079323" sldId="99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810989534" sldId="1000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514275975" sldId="100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782120851" sldId="100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0" sldId="1003"/>
        </pc:sldMkLst>
      </pc:sldChg>
      <pc:sldChg chg="del">
        <pc:chgData name="Michael Stahl" userId="1bd406a94c0b4a41" providerId="LiveId" clId="{06F263C8-35B2-477E-9931-FD30AF4771AB}" dt="2026-09-06T13:58:41.105" v="1" actId="47"/>
        <pc:sldMkLst>
          <pc:docMk/>
          <pc:sldMk cId="1887089056" sldId="100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682148569" sldId="100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455088985" sldId="1012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161281468" sldId="1021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4086997180" sldId="1023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734713772" sldId="1024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3532330539" sldId="1025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827462554" sldId="1026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652135205" sldId="1027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2439223471" sldId="1028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003295023" sldId="1029"/>
        </pc:sldMkLst>
      </pc:sldChg>
      <pc:sldChg chg="del">
        <pc:chgData name="Michael Stahl" userId="1bd406a94c0b4a41" providerId="LiveId" clId="{06F263C8-35B2-477E-9931-FD30AF4771AB}" dt="2026-09-06T13:58:32.578" v="0" actId="47"/>
        <pc:sldMkLst>
          <pc:docMk/>
          <pc:sldMk cId="1593431386" sldId="1030"/>
        </pc:sldMkLst>
      </pc:sldChg>
      <pc:sldMasterChg chg="delSldLayout">
        <pc:chgData name="Michael Stahl" userId="1bd406a94c0b4a41" providerId="LiveId" clId="{06F263C8-35B2-477E-9931-FD30AF4771AB}" dt="2026-09-06T13:58:41.105" v="1" actId="47"/>
        <pc:sldMasterMkLst>
          <pc:docMk/>
          <pc:sldMasterMk cId="0" sldId="2147483659"/>
        </pc:sldMasterMkLst>
        <pc:sldLayoutChg chg="del">
          <pc:chgData name="Michael Stahl" userId="1bd406a94c0b4a41" providerId="LiveId" clId="{06F263C8-35B2-477E-9931-FD30AF4771AB}" dt="2026-09-06T13:58:41.105" v="1" actId="47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Michael Stahl" userId="1bd406a94c0b4a41" providerId="LiveId" clId="{06F263C8-35B2-477E-9931-FD30AF4771AB}" dt="2026-09-06T13:58:41.105" v="1" actId="47"/>
          <pc:sldLayoutMkLst>
            <pc:docMk/>
            <pc:sldMasterMk cId="0" sldId="2147483659"/>
            <pc:sldLayoutMk cId="3384795664" sldId="2147483660"/>
          </pc:sldLayoutMkLst>
        </pc:sldLayoutChg>
        <pc:sldLayoutChg chg="del">
          <pc:chgData name="Michael Stahl" userId="1bd406a94c0b4a41" providerId="LiveId" clId="{06F263C8-35B2-477E-9931-FD30AF4771AB}" dt="2026-09-06T13:58:32.578" v="0" actId="47"/>
          <pc:sldLayoutMkLst>
            <pc:docMk/>
            <pc:sldMasterMk cId="0" sldId="2147483659"/>
            <pc:sldLayoutMk cId="1965150010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>
          <a:extLst>
            <a:ext uri="{FF2B5EF4-FFF2-40B4-BE49-F238E27FC236}">
              <a16:creationId xmlns:a16="http://schemas.microsoft.com/office/drawing/2014/main" id="{D0E29D8C-41C8-9CFA-FAA1-1AD6206E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>
            <a:extLst>
              <a:ext uri="{FF2B5EF4-FFF2-40B4-BE49-F238E27FC236}">
                <a16:creationId xmlns:a16="http://schemas.microsoft.com/office/drawing/2014/main" id="{E72E9DD7-FF19-87D5-9B80-7216824E0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>
            <a:extLst>
              <a:ext uri="{FF2B5EF4-FFF2-40B4-BE49-F238E27FC236}">
                <a16:creationId xmlns:a16="http://schemas.microsoft.com/office/drawing/2014/main" id="{83DCEFF0-4C58-BEF3-85A8-0021AD3D2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697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To monitor progress, run  </a:t>
            </a:r>
            <a:r>
              <a:rPr lang="en-US" b="1" dirty="0"/>
              <a:t>02-02-040_bug-reports-monitor.bat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Full path: </a:t>
            </a:r>
          </a:p>
          <a:p>
            <a:pPr marL="139700" indent="0">
              <a:buNone/>
            </a:pPr>
            <a:r>
              <a:rPr lang="en-US" dirty="0"/>
              <a:t>"D:\OneDrive - ITCB\Documents\Training\SW Testing\Azrieli\2027\Lesson 02 - Reviews, Static testing and Static analysis\01 Class activity\02-02 Writing requirements\02-02-040_bug-reports-monitor.bat"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180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59321A-DD9E-48DE-BA95-D68FC979AAE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L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95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187A62-B24B-4113-9276-0BB918ADD52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830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4044" name="Google Shape;4044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1775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01738"/>
            <a:ext cx="4043362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45034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048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565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/>
          </p:nvPr>
        </p:nvSpPr>
        <p:spPr>
          <a:xfrm>
            <a:off x="1534885" y="986067"/>
            <a:ext cx="4024689" cy="4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55" lvl="0" indent="-41906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3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2697E-5E58-1E44-DC7D-DF0A84A0EEB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3" r:id="rId3"/>
    <p:sldLayoutId id="2147483664" r:id="rId4"/>
    <p:sldLayoutId id="2147483665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qRAAyYrhqtXZQeilD0-CJ8wQa7x1Jm3R4A0dIBofelZ688Q/viewform?usp=sharing&amp;ouid=11374683350784074265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asy_Approach_to_Requirements_Syntax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>
          <a:extLst>
            <a:ext uri="{FF2B5EF4-FFF2-40B4-BE49-F238E27FC236}">
              <a16:creationId xmlns:a16="http://schemas.microsoft.com/office/drawing/2014/main" id="{D7D4481F-FCC2-F216-8E8A-71309B22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p17">
            <a:extLst>
              <a:ext uri="{FF2B5EF4-FFF2-40B4-BE49-F238E27FC236}">
                <a16:creationId xmlns:a16="http://schemas.microsoft.com/office/drawing/2014/main" id="{C7327B0C-1D1B-4CE3-90F4-FA4E9E07B4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  <p:sp>
        <p:nvSpPr>
          <p:cNvPr id="4" name="Google Shape;3864;p17">
            <a:extLst>
              <a:ext uri="{FF2B5EF4-FFF2-40B4-BE49-F238E27FC236}">
                <a16:creationId xmlns:a16="http://schemas.microsoft.com/office/drawing/2014/main" id="{2A7AAECB-5AD6-E5B5-2827-2168DE57C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06109" y="597368"/>
            <a:ext cx="3982775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5400" b="1" i="0" dirty="0"/>
              <a:t>Class Activity</a:t>
            </a:r>
          </a:p>
          <a:p>
            <a:pPr marL="0" indent="0">
              <a:buNone/>
            </a:pPr>
            <a:endParaRPr lang="en" sz="5400" b="1" i="0" dirty="0"/>
          </a:p>
          <a:p>
            <a:pPr marL="0" indent="0" algn="ctr">
              <a:buNone/>
            </a:pPr>
            <a:r>
              <a:rPr lang="en" sz="4000" b="1" i="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Writing requirements</a:t>
            </a:r>
            <a:endParaRPr sz="4000" b="1" i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05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26C7-BB0E-4C26-5114-F765864C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6660"/>
            <a:ext cx="8236800" cy="1301297"/>
          </a:xfrm>
        </p:spPr>
        <p:txBody>
          <a:bodyPr/>
          <a:lstStyle/>
          <a:p>
            <a:r>
              <a:rPr lang="en-US" dirty="0"/>
              <a:t>Writing requirements – </a:t>
            </a:r>
            <a:br>
              <a:rPr lang="en-US" dirty="0"/>
            </a:br>
            <a:r>
              <a:rPr lang="en-US" dirty="0"/>
              <a:t>exercise instructions (1)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1041A-ED89-196B-C464-C01ABBFB4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764632"/>
            <a:ext cx="6962924" cy="4520768"/>
          </a:xfrm>
        </p:spPr>
        <p:txBody>
          <a:bodyPr/>
          <a:lstStyle/>
          <a:p>
            <a:pPr lvl="0"/>
            <a:r>
              <a:rPr lang="en-US" dirty="0"/>
              <a:t>Write an .md file with requirements for the </a:t>
            </a:r>
            <a:r>
              <a:rPr lang="en-US" b="1" dirty="0"/>
              <a:t>sheet entry monitor</a:t>
            </a:r>
            <a:r>
              <a:rPr lang="en-US" dirty="0"/>
              <a:t> used to track your progress on the previous activity</a:t>
            </a:r>
          </a:p>
          <a:p>
            <a:pPr lvl="0"/>
            <a:r>
              <a:rPr lang="en-US" dirty="0"/>
              <a:t>Hints: </a:t>
            </a:r>
          </a:p>
          <a:p>
            <a:pPr lvl="1"/>
            <a:r>
              <a:rPr lang="en-US" dirty="0"/>
              <a:t>Assume comments are entered dynamically to an Excel file on your PC, in the same folder as the script</a:t>
            </a:r>
          </a:p>
          <a:p>
            <a:pPr lvl="1"/>
            <a:r>
              <a:rPr lang="en-US" dirty="0"/>
              <a:t>Write the requirements in a text file, and give LLM to create an MD file from it.</a:t>
            </a:r>
          </a:p>
          <a:p>
            <a:r>
              <a:rPr lang="en-US" dirty="0"/>
              <a:t>Upload the md file to Moodle</a:t>
            </a:r>
          </a:p>
          <a:p>
            <a:pPr lvl="1"/>
            <a:r>
              <a:rPr lang="en-US" dirty="0"/>
              <a:t>Filename: </a:t>
            </a:r>
            <a:r>
              <a:rPr lang="en-US" b="1" i="1" dirty="0"/>
              <a:t>your email name</a:t>
            </a:r>
            <a:r>
              <a:rPr lang="en-US" b="1" dirty="0"/>
              <a:t>.02-02.md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4000" dirty="0"/>
              <a:t>15 min</a:t>
            </a:r>
            <a:endParaRPr lang="en-IL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F3E88-3BE9-7F65-1BDD-6E1C52CC7B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779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F643-57BA-DCA5-D4AB-34F320DF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0DC5-64CE-C674-D720-B20A6963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6660"/>
            <a:ext cx="8236800" cy="1301297"/>
          </a:xfrm>
        </p:spPr>
        <p:txBody>
          <a:bodyPr/>
          <a:lstStyle/>
          <a:p>
            <a:r>
              <a:rPr lang="en-US" dirty="0"/>
              <a:t>Writing requirements – </a:t>
            </a:r>
            <a:br>
              <a:rPr lang="en-US" dirty="0"/>
            </a:br>
            <a:r>
              <a:rPr lang="en-US" dirty="0"/>
              <a:t>exercise instructions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0F9D9-0EF9-0F80-B27C-089F9EE7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764632"/>
            <a:ext cx="6962924" cy="4520768"/>
          </a:xfrm>
        </p:spPr>
        <p:txBody>
          <a:bodyPr/>
          <a:lstStyle/>
          <a:p>
            <a:pPr lvl="0"/>
            <a:r>
              <a:rPr lang="en-US" dirty="0"/>
              <a:t>Exchange md files with another student</a:t>
            </a:r>
          </a:p>
          <a:p>
            <a:pPr lvl="0"/>
            <a:r>
              <a:rPr lang="en-US" dirty="0"/>
              <a:t>Load the md file you got to an LLM, and add this prompt: </a:t>
            </a:r>
          </a:p>
          <a:p>
            <a:pPr marL="858838" lv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write a python script that implements the requirements in the attached md file</a:t>
            </a:r>
          </a:p>
          <a:p>
            <a:endParaRPr lang="en-US" dirty="0"/>
          </a:p>
          <a:p>
            <a:r>
              <a:rPr lang="en-US" dirty="0"/>
              <a:t>Test the resulting python code</a:t>
            </a:r>
          </a:p>
          <a:p>
            <a:r>
              <a:rPr lang="en-US" dirty="0"/>
              <a:t>File bugs to </a:t>
            </a:r>
            <a:r>
              <a:rPr lang="en-US" dirty="0">
                <a:hlinkClick r:id="rId2"/>
              </a:rPr>
              <a:t>this form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sz="4000" dirty="0"/>
              <a:t>20 min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L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BC745-DD92-6EC9-9EE9-F07326AD32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5695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BF32-1D14-3328-0E09-7A3C435B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1503-DF0B-51C1-8094-6A4B3A44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6660"/>
            <a:ext cx="8236800" cy="1301297"/>
          </a:xfrm>
        </p:spPr>
        <p:txBody>
          <a:bodyPr/>
          <a:lstStyle/>
          <a:p>
            <a:r>
              <a:rPr lang="en-US" dirty="0"/>
              <a:t>Writing requirements – </a:t>
            </a:r>
            <a:br>
              <a:rPr lang="en-US" dirty="0"/>
            </a:br>
            <a:r>
              <a:rPr lang="en-US" dirty="0"/>
              <a:t>exercise instructions (3)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98A18-419D-5AC6-B4E1-1D57AA1E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764632"/>
            <a:ext cx="6962924" cy="4520768"/>
          </a:xfrm>
        </p:spPr>
        <p:txBody>
          <a:bodyPr/>
          <a:lstStyle/>
          <a:p>
            <a:pPr lvl="0"/>
            <a:r>
              <a:rPr lang="en-US" sz="2800" dirty="0"/>
              <a:t>What are your conclusions about writing requirements? </a:t>
            </a:r>
          </a:p>
          <a:p>
            <a:pPr lvl="0"/>
            <a:r>
              <a:rPr lang="en-US" sz="2800" dirty="0"/>
              <a:t>Why is it a critical skill today?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 algn="ctr">
              <a:buNone/>
            </a:pPr>
            <a:endParaRPr lang="en-IL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3803-378D-CE8B-804D-7D9FE751D3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164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Writing Functional Requirements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4048" y="1363717"/>
            <a:ext cx="5206951" cy="3707738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EARS:  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u="sng" dirty="0"/>
              <a:t>E</a:t>
            </a:r>
            <a:r>
              <a:rPr lang="en-US" sz="3200" dirty="0"/>
              <a:t>asy </a:t>
            </a:r>
            <a:r>
              <a:rPr lang="en-US" sz="3200" b="1" u="sng" dirty="0"/>
              <a:t>A</a:t>
            </a:r>
            <a:r>
              <a:rPr lang="en-US" sz="3200" dirty="0"/>
              <a:t>pproach </a:t>
            </a:r>
          </a:p>
          <a:p>
            <a:pPr marL="0" indent="0">
              <a:buNone/>
            </a:pPr>
            <a:r>
              <a:rPr lang="en-US" sz="3200" dirty="0"/>
              <a:t>to </a:t>
            </a:r>
            <a:r>
              <a:rPr lang="en-US" sz="3200" b="1" u="sng" dirty="0"/>
              <a:t>R</a:t>
            </a:r>
            <a:r>
              <a:rPr lang="en-US" sz="3200" dirty="0"/>
              <a:t>equirements </a:t>
            </a:r>
            <a:r>
              <a:rPr lang="en-US" sz="3200" b="1" u="sng" dirty="0"/>
              <a:t>S</a:t>
            </a:r>
            <a:r>
              <a:rPr lang="en-US" sz="3200" dirty="0"/>
              <a:t>yntax</a:t>
            </a:r>
          </a:p>
          <a:p>
            <a:pPr marL="0" indent="0" eaLnBrk="1" hangingPunct="1">
              <a:buNone/>
            </a:pPr>
            <a:endParaRPr lang="en-US" sz="800" dirty="0"/>
          </a:p>
          <a:p>
            <a:pPr marL="0" indent="0" eaLnBrk="1" hangingPunct="1">
              <a:buNone/>
            </a:pPr>
            <a:endParaRPr lang="en-US" sz="1200" dirty="0"/>
          </a:p>
          <a:p>
            <a:pPr marL="0" indent="0" eaLnBrk="1" hangingPunct="1">
              <a:buNone/>
            </a:pPr>
            <a:r>
              <a:rPr lang="en-US" sz="1200" dirty="0"/>
              <a:t>Source: John Terzakis, Better Software Conference, 2012, Las Vegas, NV</a:t>
            </a:r>
          </a:p>
        </p:txBody>
      </p:sp>
      <p:pic>
        <p:nvPicPr>
          <p:cNvPr id="3" name="Graphic 2" descr="Ear outline">
            <a:extLst>
              <a:ext uri="{FF2B5EF4-FFF2-40B4-BE49-F238E27FC236}">
                <a16:creationId xmlns:a16="http://schemas.microsoft.com/office/drawing/2014/main" id="{E0AADED2-7054-AB03-5AB6-9F52C5707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88" y="1458309"/>
            <a:ext cx="3350174" cy="3350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3029C8-4572-424B-5F2A-2A4132BE8B35}"/>
              </a:ext>
            </a:extLst>
          </p:cNvPr>
          <p:cNvSpPr txBox="1"/>
          <p:nvPr/>
        </p:nvSpPr>
        <p:spPr>
          <a:xfrm>
            <a:off x="215115" y="4927749"/>
            <a:ext cx="7581348" cy="113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563" marR="0" lvl="1" rtl="0">
              <a:lnSpc>
                <a:spcPct val="115000"/>
              </a:lnSpc>
              <a:spcAft>
                <a:spcPts val="800"/>
              </a:spcAft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More information: </a:t>
            </a:r>
          </a:p>
          <a:p>
            <a:pPr marL="55563" marR="0" lvl="1" rtl="0">
              <a:lnSpc>
                <a:spcPct val="115000"/>
              </a:lnSpc>
              <a:spcAft>
                <a:spcPts val="800"/>
              </a:spcAft>
            </a:pPr>
            <a:r>
              <a:rPr lang="en-IL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EARS - The Easy Approach to Requirements syntax - John Terzakis.pdf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(on Moodle)</a:t>
            </a:r>
          </a:p>
          <a:p>
            <a:pPr marL="55563" lvl="1">
              <a:lnSpc>
                <a:spcPct val="115000"/>
              </a:lnSpc>
              <a:spcAft>
                <a:spcPts val="800"/>
              </a:spcAft>
            </a:pPr>
            <a:r>
              <a:rPr lang="en-IL" sz="16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https://en.wikipedia.org/wiki/Easy_Approach_to_Requirements_Syntax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I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EARS Patterns</a:t>
            </a:r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78457"/>
              </p:ext>
            </p:extLst>
          </p:nvPr>
        </p:nvGraphicFramePr>
        <p:xfrm>
          <a:off x="449386" y="1209403"/>
          <a:ext cx="8364583" cy="4439193"/>
        </p:xfrm>
        <a:graphic>
          <a:graphicData uri="http://schemas.openxmlformats.org/drawingml/2006/table">
            <a:tbl>
              <a:tblPr/>
              <a:tblGrid>
                <a:gridCol w="1907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Pattern Name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tillium Web Light" panose="00000400000000000000" pitchFamily="2" charset="0"/>
                          <a:ea typeface="+mn-ea"/>
                          <a:cs typeface="Arial" pitchFamily="34" charset="0"/>
                          <a:sym typeface="Arial"/>
                        </a:rPr>
                        <a:t>Pattern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Ubiquitous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The &lt;system name&gt; shall &lt;system response&gt;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Event-Driven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WHEN | AFTER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 &lt;trigger&gt; &lt;optional precondition&gt; the &lt;system name&gt; shall &lt;system response&gt;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Unwanted Behavior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IF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 &lt;unwanted condition or event&gt;,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THEN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 the &lt;system name&gt; shall &lt;system response&gt;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State-Driven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WHILE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 &lt;system state&gt;, the &lt;system name&gt; shall &lt;system response&gt;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6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Optional Feature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WHERE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 &lt;feature is included&gt;, the &lt;system name&gt; shall &lt;system response&gt;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Complex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 Light" panose="00000400000000000000" pitchFamily="2" charset="0"/>
                          <a:cs typeface="Arial" pitchFamily="34" charset="0"/>
                        </a:rPr>
                        <a:t>(combinations of the above patterns)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37"/>
          <p:cNvSpPr txBox="1">
            <a:spLocks noGrp="1"/>
          </p:cNvSpPr>
          <p:nvPr>
            <p:ph type="title"/>
          </p:nvPr>
        </p:nvSpPr>
        <p:spPr>
          <a:xfrm>
            <a:off x="718303" y="159662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CREDITS</a:t>
            </a:r>
            <a:endParaRPr/>
          </a:p>
        </p:txBody>
      </p:sp>
      <p:sp>
        <p:nvSpPr>
          <p:cNvPr id="4047" name="Google Shape;4047;p37"/>
          <p:cNvSpPr txBox="1">
            <a:spLocks noGrp="1"/>
          </p:cNvSpPr>
          <p:nvPr>
            <p:ph type="body" idx="1"/>
          </p:nvPr>
        </p:nvSpPr>
        <p:spPr>
          <a:xfrm>
            <a:off x="718303" y="2590803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Special thanks to all the people who made and released these awesome resources for free:</a:t>
            </a:r>
            <a:endParaRPr/>
          </a:p>
          <a:p>
            <a:pPr>
              <a:lnSpc>
                <a:spcPct val="115000"/>
              </a:lnSpc>
            </a:pPr>
            <a:r>
              <a:rPr lang="en"/>
              <a:t>Presentation template by </a:t>
            </a:r>
            <a:r>
              <a:rPr lang="en" u="sng">
                <a:solidFill>
                  <a:srgbClr val="0B87A1"/>
                </a:solidFill>
                <a:hlinkClick r:id="rId3"/>
              </a:rPr>
              <a:t>SlidesCarnival</a:t>
            </a:r>
            <a:endParaRPr>
              <a:solidFill>
                <a:srgbClr val="0B87A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/>
              <a:t>Photographs by </a:t>
            </a:r>
            <a:r>
              <a:rPr lang="en" u="sng">
                <a:solidFill>
                  <a:srgbClr val="0B87A1"/>
                </a:solidFill>
                <a:hlinkClick r:id="rId4"/>
              </a:rPr>
              <a:t>Unsplash</a:t>
            </a:r>
            <a:endParaRPr>
              <a:solidFill>
                <a:srgbClr val="0B87A1"/>
              </a:solidFill>
            </a:endParaRPr>
          </a:p>
        </p:txBody>
      </p:sp>
      <p:sp>
        <p:nvSpPr>
          <p:cNvPr id="4048" name="Google Shape;4048;p37"/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A08F610-A8DE-48EE-AF9F-85797E90A7E6}" vid="{0ADC40FC-5C20-46E2-A963-C915CABD987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3005</TotalTime>
  <Words>427</Words>
  <Application>Microsoft Office PowerPoint</Application>
  <PresentationFormat>On-screen Show (4:3)</PresentationFormat>
  <Paragraphs>65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Titillium Web Light</vt:lpstr>
      <vt:lpstr>Titillium Web ExtraLight</vt:lpstr>
      <vt:lpstr>Arial</vt:lpstr>
      <vt:lpstr>Dosis Light</vt:lpstr>
      <vt:lpstr>Wingdings</vt:lpstr>
      <vt:lpstr>Mowbray template</vt:lpstr>
      <vt:lpstr>PowerPoint Presentation</vt:lpstr>
      <vt:lpstr>Writing requirements –  exercise instructions (1)</vt:lpstr>
      <vt:lpstr>Writing requirements –  exercise instructions (2)</vt:lpstr>
      <vt:lpstr>Writing requirements –  exercise instructions (3)</vt:lpstr>
      <vt:lpstr>Writing Functional Requirements</vt:lpstr>
      <vt:lpstr>EARS Patterns</vt:lpstr>
      <vt:lpstr>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3</cp:revision>
  <dcterms:created xsi:type="dcterms:W3CDTF">2024-12-22T09:09:46Z</dcterms:created>
  <dcterms:modified xsi:type="dcterms:W3CDTF">2026-09-06T14:05:14Z</dcterms:modified>
</cp:coreProperties>
</file>